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8" r:id="rId6"/>
    <p:sldId id="258" r:id="rId7"/>
    <p:sldId id="281" r:id="rId8"/>
    <p:sldId id="28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56701" autoAdjust="0"/>
  </p:normalViewPr>
  <p:slideViewPr>
    <p:cSldViewPr snapToGrid="0">
      <p:cViewPr varScale="1">
        <p:scale>
          <a:sx n="58" d="100"/>
          <a:sy n="58" d="100"/>
        </p:scale>
        <p:origin x="2574" y="28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menudo se le llama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patrón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estrangulador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nuestro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idioma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es simplemente un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enfoque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arquitectónico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modernizar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reemplazar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forma incremental.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introduce una fachada (API Gateway, proxy inverso, BFF, etc.) delante de la aplicación heredada.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 las llamadas de cliente pasan por esta fachada.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cada característica o segmento, se crea una nueva implementación (a menudo como un servicio independiente, una aplicación de función o un microservicio).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actualiza la fachada para enrutar ese segmento a la nueva implementación en lugar de a la heredada.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 el tiempo, fluye cada vez más tráfico hacia los nuevos componentes; la heredada se reduce hasta que puede retirarse.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Otro nombre con el que se le conoce en español es de higuera estranguladora, porque dicha planta crece alrededor de un árbol anfitrión y lo reemplaza lentamente; el sistema heredado es el anfitrión, los nuevos servicios son la higuera.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Características clave:</a:t>
            </a:r>
          </a:p>
          <a:p>
            <a:endParaRPr lang="es-ES" dirty="0"/>
          </a:p>
          <a:p>
            <a:r>
              <a:rPr lang="es-ES" dirty="0"/>
              <a:t>Incremental: reemplaza el comportamiento en pequeñas porciones comprobables, no mediante una reescritura radical.</a:t>
            </a:r>
          </a:p>
          <a:p>
            <a:r>
              <a:rPr lang="es-ES" dirty="0"/>
              <a:t>Coexistencia: el código antiguo y el nuevo se ejecutan en paralelo durante un tiempo.</a:t>
            </a:r>
          </a:p>
          <a:p>
            <a:endParaRPr lang="es-ES" dirty="0"/>
          </a:p>
          <a:p>
            <a:r>
              <a:rPr lang="es-ES" dirty="0"/>
              <a:t>Indirección de enrutamiento: un único punto de entrada decide, en cada solicitud, si se invocan componentes heredados o modernos.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Cuándo usar el patrón </a:t>
            </a:r>
            <a:r>
              <a:rPr lang="es-ES" b="1" dirty="0" err="1"/>
              <a:t>Strangler</a:t>
            </a:r>
            <a:endParaRPr lang="es-ES" b="1" dirty="0"/>
          </a:p>
          <a:p>
            <a:endParaRPr lang="es-ES" dirty="0"/>
          </a:p>
          <a:p>
            <a:r>
              <a:rPr lang="es-ES" dirty="0"/>
              <a:t>Situaciones adecuadas / casos de uso típicos</a:t>
            </a:r>
          </a:p>
          <a:p>
            <a:endParaRPr lang="es-ES" dirty="0"/>
          </a:p>
          <a:p>
            <a:r>
              <a:rPr lang="es-ES" dirty="0"/>
              <a:t>Use el patrón </a:t>
            </a:r>
            <a:r>
              <a:rPr lang="es-ES" dirty="0" err="1"/>
              <a:t>Strangler</a:t>
            </a:r>
            <a:r>
              <a:rPr lang="es-ES" dirty="0"/>
              <a:t> </a:t>
            </a:r>
            <a:r>
              <a:rPr lang="es-ES" dirty="0" err="1"/>
              <a:t>Fig</a:t>
            </a:r>
            <a:r>
              <a:rPr lang="es-ES" dirty="0"/>
              <a:t> cuando:</a:t>
            </a:r>
          </a:p>
          <a:p>
            <a:endParaRPr lang="es-ES" dirty="0"/>
          </a:p>
          <a:p>
            <a:r>
              <a:rPr lang="es-ES" dirty="0"/>
              <a:t>+ Necesita modernizar un sistema heredado grande y crítico para el negocio (monolito, aplicación MVC antigua, integración de mainframe, etc.) donde una reescritura completa es arriesgada o políticamente imposible.</a:t>
            </a:r>
          </a:p>
          <a:p>
            <a:endParaRPr lang="es-ES" dirty="0"/>
          </a:p>
          <a:p>
            <a:r>
              <a:rPr lang="es-ES" dirty="0"/>
              <a:t>+ El tiempo de inactividad no es aceptable: el sistema debe seguir funcionando mientras se moderniza.</a:t>
            </a:r>
          </a:p>
          <a:p>
            <a:endParaRPr lang="es-ES" dirty="0"/>
          </a:p>
          <a:p>
            <a:r>
              <a:rPr lang="es-ES" dirty="0"/>
              <a:t>+ El sistema tiene uniones claras o contextos delimitados para que pueda mover una característica o punto final de API a la vez (por ejemplo, "pagos", "perfil del cliente", "informes").</a:t>
            </a:r>
          </a:p>
          <a:p>
            <a:endParaRPr lang="es-ES" dirty="0"/>
          </a:p>
          <a:p>
            <a:r>
              <a:rPr lang="es-ES" dirty="0"/>
              <a:t>+ Desea obtener valor rápidamente: hacer </a:t>
            </a:r>
            <a:r>
              <a:rPr lang="es-ES" dirty="0" err="1"/>
              <a:t>delivery</a:t>
            </a:r>
            <a:r>
              <a:rPr lang="es-ES" dirty="0"/>
              <a:t> de algunas partes modernizadas rápidamente (por ejemplo, una nueva API, una nueva experiencia de usuario) mientras el resto sigue siendo heredado.</a:t>
            </a:r>
          </a:p>
          <a:p>
            <a:endParaRPr lang="es-ES" dirty="0"/>
          </a:p>
          <a:p>
            <a:r>
              <a:rPr lang="es-ES" dirty="0"/>
              <a:t>+ Está migrando desde:</a:t>
            </a:r>
          </a:p>
          <a:p>
            <a:endParaRPr lang="es-ES" dirty="0"/>
          </a:p>
          <a:p>
            <a:r>
              <a:rPr lang="es-ES" dirty="0" err="1"/>
              <a:t>Monolith</a:t>
            </a:r>
            <a:r>
              <a:rPr lang="es-ES" dirty="0"/>
              <a:t> → microservicios,</a:t>
            </a:r>
          </a:p>
          <a:p>
            <a:endParaRPr lang="es-ES" dirty="0"/>
          </a:p>
          <a:p>
            <a:r>
              <a:rPr lang="es-ES" dirty="0"/>
              <a:t>Aplicación web heredada → nueva API + SPA,</a:t>
            </a:r>
          </a:p>
          <a:p>
            <a:endParaRPr lang="es-ES" dirty="0"/>
          </a:p>
          <a:p>
            <a:r>
              <a:rPr lang="es-ES" dirty="0"/>
              <a:t>Servicios locales → servicios nativos de la nube, y puede insertar una puerta de enlace/proxy en la parte frontal.</a:t>
            </a:r>
          </a:p>
          <a:p>
            <a:endParaRPr lang="es-ES" dirty="0"/>
          </a:p>
          <a:p>
            <a:endParaRPr lang="es-ES" dirty="0"/>
          </a:p>
          <a:p>
            <a:r>
              <a:rPr lang="es-ES" b="1" dirty="0"/>
              <a:t>Cuándo No usarlo</a:t>
            </a:r>
          </a:p>
          <a:p>
            <a:endParaRPr lang="es-ES" dirty="0"/>
          </a:p>
          <a:p>
            <a:r>
              <a:rPr lang="es-ES" dirty="0"/>
              <a:t>El patrón es menos adecuado cuando:</a:t>
            </a:r>
          </a:p>
          <a:p>
            <a:endParaRPr lang="es-ES" dirty="0"/>
          </a:p>
          <a:p>
            <a:r>
              <a:rPr lang="es-ES" dirty="0"/>
              <a:t>+ El sistema es pequeño o trivial; una reescritura limpia es más económica y rápida que configurar la fachada, el enrutamiento, la </a:t>
            </a:r>
            <a:r>
              <a:rPr lang="es-ES" dirty="0" err="1"/>
              <a:t>observabilidad</a:t>
            </a:r>
            <a:r>
              <a:rPr lang="es-ES" dirty="0"/>
              <a:t>, etc.</a:t>
            </a:r>
          </a:p>
          <a:p>
            <a:endParaRPr lang="es-ES" dirty="0"/>
          </a:p>
          <a:p>
            <a:r>
              <a:rPr lang="es-ES" dirty="0"/>
              <a:t>+ No se puede interceptar el tráfico al sistema heredado (por ejemplo, un cliente de escritorio propietario está programado para comunicarse directamente con un mainframe y no se puede modificar ni encapsular).</a:t>
            </a:r>
          </a:p>
          <a:p>
            <a:endParaRPr lang="es-ES" dirty="0"/>
          </a:p>
          <a:p>
            <a:r>
              <a:rPr lang="es-ES" dirty="0"/>
              <a:t>+ El dominio no tiene uniones reales: todo está estrechamente acoplado y no se pueden separar de forma segura las capacidades individuales sin una cirugía masiva.</a:t>
            </a:r>
          </a:p>
          <a:p>
            <a:endParaRPr lang="es-ES" dirty="0"/>
          </a:p>
          <a:p>
            <a:r>
              <a:rPr lang="es-ES" dirty="0"/>
              <a:t>+ Existen restricciones regulatorias o contractuales que hacen que la ejecución dual (heredado + nuevo) sea demasiado compleja o costosa.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pco07@hotmail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3403" y="2660515"/>
            <a:ext cx="5869021" cy="1284051"/>
          </a:xfrm>
        </p:spPr>
        <p:txBody>
          <a:bodyPr anchor="ctr"/>
          <a:lstStyle/>
          <a:p>
            <a:r>
              <a:rPr lang="en-US" dirty="0"/>
              <a:t>Strangler FIG PATTERN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57C876B-A3CD-FE29-E236-98037AC0D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32" y="4713051"/>
            <a:ext cx="250507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F62EBC9-6795-1321-C150-0E81840EAA7C}"/>
              </a:ext>
            </a:extLst>
          </p:cNvPr>
          <p:cNvSpPr txBox="1">
            <a:spLocks/>
          </p:cNvSpPr>
          <p:nvPr/>
        </p:nvSpPr>
        <p:spPr>
          <a:xfrm>
            <a:off x="6838544" y="4888149"/>
            <a:ext cx="4182894" cy="12840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Pastor CortéS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9D988F8-33EE-4747-B7CF-3D8865C58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1122" y="5308745"/>
            <a:ext cx="1097646" cy="44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8354" y="992221"/>
            <a:ext cx="4179570" cy="1811836"/>
          </a:xfrm>
        </p:spPr>
        <p:txBody>
          <a:bodyPr/>
          <a:lstStyle/>
          <a:p>
            <a:pPr algn="ctr"/>
            <a:r>
              <a:rPr lang="en-US" dirty="0"/>
              <a:t>Architectural pattern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644D535-23E2-31BD-F2B1-87C956673FB6}"/>
              </a:ext>
            </a:extLst>
          </p:cNvPr>
          <p:cNvSpPr txBox="1">
            <a:spLocks/>
          </p:cNvSpPr>
          <p:nvPr/>
        </p:nvSpPr>
        <p:spPr>
          <a:xfrm>
            <a:off x="7098354" y="3333345"/>
            <a:ext cx="4179570" cy="18118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2"/>
                </a:solidFill>
              </a:rPr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62" y="0"/>
            <a:ext cx="8135988" cy="89895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¿De </a:t>
            </a:r>
            <a:r>
              <a:rPr lang="en-US" dirty="0" err="1">
                <a:solidFill>
                  <a:srgbClr val="FF0000"/>
                </a:solidFill>
              </a:rPr>
              <a:t>que</a:t>
            </a:r>
            <a:r>
              <a:rPr lang="en-US" dirty="0">
                <a:solidFill>
                  <a:srgbClr val="FF0000"/>
                </a:solidFill>
              </a:rPr>
              <a:t> trata “Strangler Fig Pattern”?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E1DEB5F-306C-08F5-F3DA-6A9472532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46" y="1724025"/>
            <a:ext cx="8810625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53027" y="685823"/>
            <a:ext cx="3924300" cy="464499"/>
          </a:xfrm>
        </p:spPr>
        <p:txBody>
          <a:bodyPr>
            <a:normAutofit/>
          </a:bodyPr>
          <a:lstStyle/>
          <a:p>
            <a:r>
              <a:rPr lang="en-US" sz="2400" dirty="0"/>
              <a:t>Cuando </a:t>
            </a:r>
            <a:r>
              <a:rPr lang="en-US" sz="2400" dirty="0" err="1"/>
              <a:t>Usarlo</a:t>
            </a:r>
            <a:r>
              <a:rPr lang="en-US" sz="2400" dirty="0"/>
              <a:t>..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1812175"/>
            <a:ext cx="3943627" cy="467368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Necesita modernizar un sistema heredado grande y crítico para el negocio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sistema tiene uniones claras o contextos delimitados para que pueda </a:t>
            </a:r>
            <a:r>
              <a:rPr lang="es-ES" sz="2000" dirty="0"/>
              <a:t>mover</a:t>
            </a:r>
            <a:r>
              <a:rPr lang="es-ES" dirty="0"/>
              <a:t> una característica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Desea obtener valor rápidamente: hacer </a:t>
            </a:r>
            <a:r>
              <a:rPr lang="es-ES" dirty="0" err="1"/>
              <a:t>delivery</a:t>
            </a:r>
            <a:r>
              <a:rPr lang="es-ES" dirty="0"/>
              <a:t> de algunas partes modernizadas rápidamente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29500" y="685823"/>
            <a:ext cx="3943627" cy="464499"/>
          </a:xfrm>
        </p:spPr>
        <p:txBody>
          <a:bodyPr>
            <a:normAutofit/>
          </a:bodyPr>
          <a:lstStyle/>
          <a:p>
            <a:r>
              <a:rPr lang="en-US" sz="2400" dirty="0"/>
              <a:t>Cuando no </a:t>
            </a:r>
            <a:r>
              <a:rPr lang="en-US" sz="2400" dirty="0" err="1"/>
              <a:t>Usarlo</a:t>
            </a:r>
            <a:r>
              <a:rPr lang="en-US" sz="2400" dirty="0"/>
              <a:t>..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1812174"/>
            <a:ext cx="3943627" cy="467368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sistema es pequeño o trivial; una reescritura limpia es más económica y rápida que configurar la fachada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No se puede interceptar el tráfico al sistema heredado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Existen restricciones regulatorias o contractuales que hacen que la ejecución dual </a:t>
            </a:r>
            <a:endParaRPr lang="en-US" sz="2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49" y="406400"/>
            <a:ext cx="4691569" cy="3457971"/>
          </a:xfrm>
        </p:spPr>
        <p:txBody>
          <a:bodyPr/>
          <a:lstStyle/>
          <a:p>
            <a:r>
              <a:rPr lang="en-US" dirty="0"/>
              <a:t>Talk is Cheap…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Show me the Code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Pastor Cortés Osorno</a:t>
            </a:r>
          </a:p>
          <a:p>
            <a:r>
              <a:rPr lang="en-US" dirty="0">
                <a:hlinkClick r:id="rId3"/>
              </a:rPr>
              <a:t>pco07@hotmail.com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      @pcortes0908</a:t>
            </a:r>
          </a:p>
          <a:p>
            <a:r>
              <a:rPr lang="en-US" dirty="0"/>
              <a:t>        pastor-cortés-osorno-34a92087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074" name="Picture 2" descr="Linkedin logo png, Linkedin icon transparent png 18930480 PNG">
            <a:extLst>
              <a:ext uri="{FF2B5EF4-FFF2-40B4-BE49-F238E27FC236}">
                <a16:creationId xmlns:a16="http://schemas.microsoft.com/office/drawing/2014/main" id="{C61816E6-BB72-D96D-54A8-AB1260508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242" y="5252929"/>
            <a:ext cx="642025" cy="64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27F0013-0D8D-178F-22E0-5DB3E77F9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790" y="4786001"/>
            <a:ext cx="466928" cy="4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{0D96F4F9-C5CE-4414-8682-133DFAE8F2C6}TF7521aafa-c748-4c40-a498-ba511be234dc5b1b6097_win32-5039330bb2f3</Template>
  <TotalTime>27</TotalTime>
  <Words>675</Words>
  <Application>Microsoft Office PowerPoint</Application>
  <PresentationFormat>Widescreen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Tenorite</vt:lpstr>
      <vt:lpstr>Custom</vt:lpstr>
      <vt:lpstr>Strangler FIG PATTERN</vt:lpstr>
      <vt:lpstr>Architectural pattern</vt:lpstr>
      <vt:lpstr>¿De que trata “Strangler Fig Pattern”?</vt:lpstr>
      <vt:lpstr>PowerPoint Presentation</vt:lpstr>
      <vt:lpstr>Talk is Cheap…   Show me the Code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Pastor Cortés Osorno</dc:creator>
  <cp:lastModifiedBy>Pastor Cortés Osorno</cp:lastModifiedBy>
  <cp:revision>4</cp:revision>
  <dcterms:created xsi:type="dcterms:W3CDTF">2025-12-01T23:53:29Z</dcterms:created>
  <dcterms:modified xsi:type="dcterms:W3CDTF">2025-12-02T00:21:09Z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